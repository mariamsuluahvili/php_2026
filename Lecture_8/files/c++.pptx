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2"/>
  </p:notesMasterIdLst>
  <p:sldIdLst>
    <p:sldId id="256" r:id="rId2"/>
    <p:sldId id="259" r:id="rId3"/>
    <p:sldId id="312" r:id="rId4"/>
    <p:sldId id="260" r:id="rId5"/>
    <p:sldId id="313" r:id="rId6"/>
    <p:sldId id="283" r:id="rId7"/>
    <p:sldId id="314" r:id="rId8"/>
    <p:sldId id="315" r:id="rId9"/>
    <p:sldId id="316" r:id="rId10"/>
    <p:sldId id="267" r:id="rId11"/>
  </p:sldIdLst>
  <p:sldSz cx="9144000" cy="5143500" type="screen16x9"/>
  <p:notesSz cx="6858000" cy="9144000"/>
  <p:embeddedFontLst>
    <p:embeddedFont>
      <p:font typeface="Arial Unicode MS" panose="020B0604020202020204" pitchFamily="34" charset="-128"/>
      <p:regular r:id="rId13"/>
    </p:embeddedFont>
    <p:embeddedFont>
      <p:font typeface="IBM Plex Mono" panose="020B0604020202020204" charset="0"/>
      <p:regular r:id="rId14"/>
      <p:bold r:id="rId15"/>
      <p:italic r:id="rId16"/>
      <p:boldItalic r:id="rId17"/>
    </p:embeddedFont>
    <p:embeddedFont>
      <p:font typeface="Archivo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1D740D0-9815-49A4-9B35-ED45D4ADD58A}">
  <a:tblStyle styleId="{61D740D0-9815-49A4-9B35-ED45D4ADD5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D08CF48-10BB-46B8-8395-7B3F58957B5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797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765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92a81341b2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92a81341b2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424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5105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933ed14694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933ed14694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6736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92581b7e23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92581b7e23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69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34950" y="1398100"/>
            <a:ext cx="64869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68674" y="-322162"/>
            <a:ext cx="9371984" cy="3960713"/>
            <a:chOff x="-268674" y="-322162"/>
            <a:chExt cx="9371984" cy="396071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25762" y="151638"/>
              <a:ext cx="8692477" cy="1388125"/>
              <a:chOff x="225762" y="151638"/>
              <a:chExt cx="8692477" cy="138812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55037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 flipH="1">
                <a:off x="225762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" name="Google Shape;16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371875" y="1504250"/>
              <a:ext cx="2700599" cy="50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 rotWithShape="1">
            <a:blip r:embed="rId4">
              <a:alphaModFix/>
            </a:blip>
            <a:srcRect t="53277"/>
            <a:stretch/>
          </p:blipFill>
          <p:spPr>
            <a:xfrm rot="10800000">
              <a:off x="-268674" y="2723000"/>
              <a:ext cx="1861925" cy="915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192572" y="-370975"/>
              <a:ext cx="1861925" cy="1959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1902336" y="2352475"/>
            <a:ext cx="5067600" cy="1047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2042402" y="1436575"/>
            <a:ext cx="1995000" cy="9159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902324" y="3344388"/>
            <a:ext cx="5067600" cy="375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" name="Google Shape;67;p8"/>
          <p:cNvGrpSpPr/>
          <p:nvPr/>
        </p:nvGrpSpPr>
        <p:grpSpPr>
          <a:xfrm>
            <a:off x="182700" y="151649"/>
            <a:ext cx="8778600" cy="4853775"/>
            <a:chOff x="182700" y="151649"/>
            <a:chExt cx="8778600" cy="4853775"/>
          </a:xfrm>
        </p:grpSpPr>
        <p:pic>
          <p:nvPicPr>
            <p:cNvPr id="68" name="Google Shape;68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232175" y="460399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2700" y="15164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2298600" y="1619250"/>
            <a:ext cx="4546800" cy="184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522704"/>
            <a:ext cx="4872900" cy="150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8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2842638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2960400" y="1482025"/>
            <a:ext cx="4256400" cy="1526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 idx="2" hasCustomPrompt="1"/>
          </p:nvPr>
        </p:nvSpPr>
        <p:spPr>
          <a:xfrm>
            <a:off x="827527" y="1787125"/>
            <a:ext cx="1995000" cy="9159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5234950" y="3619525"/>
            <a:ext cx="2697600" cy="602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" name="Google Shape;113;p1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pic>
          <p:nvPicPr>
            <p:cNvPr id="114" name="Google Shape;114;p15"/>
            <p:cNvPicPr preferRelativeResize="0"/>
            <p:nvPr/>
          </p:nvPicPr>
          <p:blipFill rotWithShape="1">
            <a:blip r:embed="rId2">
              <a:alphaModFix/>
            </a:blip>
            <a:srcRect l="50275" b="6716"/>
            <a:stretch/>
          </p:blipFill>
          <p:spPr>
            <a:xfrm>
              <a:off x="0" y="3173625"/>
              <a:ext cx="2087874" cy="1969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5"/>
            <p:cNvPicPr preferRelativeResize="0"/>
            <p:nvPr/>
          </p:nvPicPr>
          <p:blipFill rotWithShape="1">
            <a:blip r:embed="rId2">
              <a:alphaModFix/>
            </a:blip>
            <a:srcRect l="50275" b="6716"/>
            <a:stretch/>
          </p:blipFill>
          <p:spPr>
            <a:xfrm rot="10800000" flipH="1">
              <a:off x="0" y="0"/>
              <a:ext cx="2087874" cy="19698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6" name="Google Shape;116;p15"/>
            <p:cNvGrpSpPr/>
            <p:nvPr/>
          </p:nvGrpSpPr>
          <p:grpSpPr>
            <a:xfrm flipH="1">
              <a:off x="7056125" y="0"/>
              <a:ext cx="2087874" cy="5143500"/>
              <a:chOff x="4640575" y="0"/>
              <a:chExt cx="2087874" cy="5143500"/>
            </a:xfrm>
          </p:grpSpPr>
          <p:pic>
            <p:nvPicPr>
              <p:cNvPr id="117" name="Google Shape;117;p15"/>
              <p:cNvPicPr preferRelativeResize="0"/>
              <p:nvPr/>
            </p:nvPicPr>
            <p:blipFill rotWithShape="1">
              <a:blip r:embed="rId2">
                <a:alphaModFix/>
              </a:blip>
              <a:srcRect l="50275" b="6716"/>
              <a:stretch/>
            </p:blipFill>
            <p:spPr>
              <a:xfrm>
                <a:off x="4640575" y="3173625"/>
                <a:ext cx="2087874" cy="1969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" name="Google Shape;118;p15"/>
              <p:cNvPicPr preferRelativeResize="0"/>
              <p:nvPr/>
            </p:nvPicPr>
            <p:blipFill rotWithShape="1">
              <a:blip r:embed="rId2">
                <a:alphaModFix/>
              </a:blip>
              <a:srcRect l="50275" b="6716"/>
              <a:stretch/>
            </p:blipFill>
            <p:spPr>
              <a:xfrm rot="10800000" flipH="1">
                <a:off x="4640575" y="0"/>
                <a:ext cx="2087874" cy="1969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9" name="Google Shape;119;p15"/>
          <p:cNvGrpSpPr/>
          <p:nvPr/>
        </p:nvGrpSpPr>
        <p:grpSpPr>
          <a:xfrm>
            <a:off x="3338114" y="76571"/>
            <a:ext cx="2467774" cy="4990358"/>
            <a:chOff x="3338114" y="76571"/>
            <a:chExt cx="2467774" cy="4990358"/>
          </a:xfrm>
        </p:grpSpPr>
        <p:pic>
          <p:nvPicPr>
            <p:cNvPr id="120" name="Google Shape;120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38114" y="76571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3338114" y="4603996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2" name="Google Shape;352;p35"/>
          <p:cNvGrpSpPr/>
          <p:nvPr/>
        </p:nvGrpSpPr>
        <p:grpSpPr>
          <a:xfrm>
            <a:off x="-113450" y="-1649725"/>
            <a:ext cx="9394610" cy="8421100"/>
            <a:chOff x="-113450" y="-1649725"/>
            <a:chExt cx="9394610" cy="8421100"/>
          </a:xfrm>
        </p:grpSpPr>
        <p:grpSp>
          <p:nvGrpSpPr>
            <p:cNvPr id="353" name="Google Shape;353;p35"/>
            <p:cNvGrpSpPr/>
            <p:nvPr/>
          </p:nvGrpSpPr>
          <p:grpSpPr>
            <a:xfrm>
              <a:off x="-113450" y="-1649725"/>
              <a:ext cx="8689100" cy="5214600"/>
              <a:chOff x="-113450" y="-1649725"/>
              <a:chExt cx="8689100" cy="5214600"/>
            </a:xfrm>
          </p:grpSpPr>
          <p:sp>
            <p:nvSpPr>
              <p:cNvPr id="354" name="Google Shape;354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5" name="Google Shape;355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6" name="Google Shape;356;p35"/>
              <p:cNvSpPr/>
              <p:nvPr/>
            </p:nvSpPr>
            <p:spPr>
              <a:xfrm>
                <a:off x="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grpSp>
          <p:nvGrpSpPr>
            <p:cNvPr id="357" name="Google Shape;357;p35"/>
            <p:cNvGrpSpPr/>
            <p:nvPr/>
          </p:nvGrpSpPr>
          <p:grpSpPr>
            <a:xfrm rot="10800000">
              <a:off x="553960" y="1556775"/>
              <a:ext cx="8727200" cy="5214600"/>
              <a:chOff x="-113450" y="-1649725"/>
              <a:chExt cx="8727200" cy="5214600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9" name="Google Shape;359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60" name="Google Shape;360;p35"/>
              <p:cNvSpPr/>
              <p:nvPr/>
            </p:nvSpPr>
            <p:spPr>
              <a:xfrm>
                <a:off x="3810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-93668" y="0"/>
            <a:ext cx="9329109" cy="5143497"/>
            <a:chOff x="-93668" y="0"/>
            <a:chExt cx="9329109" cy="5143497"/>
          </a:xfrm>
        </p:grpSpPr>
        <p:grpSp>
          <p:nvGrpSpPr>
            <p:cNvPr id="363" name="Google Shape;363;p36"/>
            <p:cNvGrpSpPr/>
            <p:nvPr/>
          </p:nvGrpSpPr>
          <p:grpSpPr>
            <a:xfrm rot="10800000">
              <a:off x="5592122" y="2697400"/>
              <a:ext cx="3643319" cy="2446097"/>
              <a:chOff x="-93668" y="0"/>
              <a:chExt cx="3643319" cy="2446097"/>
            </a:xfrm>
          </p:grpSpPr>
          <p:grpSp>
            <p:nvGrpSpPr>
              <p:cNvPr id="364" name="Google Shape;364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65" name="Google Shape;365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6" name="Google Shape;366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69" name="Google Shape;369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0" name="Google Shape;370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1" name="Google Shape;371;p36"/>
            <p:cNvGrpSpPr/>
            <p:nvPr/>
          </p:nvGrpSpPr>
          <p:grpSpPr>
            <a:xfrm>
              <a:off x="-93668" y="0"/>
              <a:ext cx="3643319" cy="2446097"/>
              <a:chOff x="-93668" y="0"/>
              <a:chExt cx="3643319" cy="2446097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4" name="Google Shape;374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77" name="Google Shape;377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8" name="Google Shape;378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3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79" name="Google Shape;379;p36"/>
          <p:cNvSpPr/>
          <p:nvPr/>
        </p:nvSpPr>
        <p:spPr>
          <a:xfrm>
            <a:off x="175255" y="182850"/>
            <a:ext cx="8793600" cy="477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8" r:id="rId5"/>
    <p:sldLayoutId id="2147483661" r:id="rId6"/>
    <p:sldLayoutId id="2147483681" r:id="rId7"/>
    <p:sldLayoutId id="2147483682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0"/>
          <p:cNvPicPr preferRelativeResize="0"/>
          <p:nvPr/>
        </p:nvPicPr>
        <p:blipFill rotWithShape="1">
          <a:blip r:embed="rId3">
            <a:alphaModFix/>
          </a:blip>
          <a:srcRect l="2123" b="9502"/>
          <a:stretch/>
        </p:blipFill>
        <p:spPr>
          <a:xfrm>
            <a:off x="0" y="3692921"/>
            <a:ext cx="4304653" cy="14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0"/>
          <p:cNvPicPr preferRelativeResize="0"/>
          <p:nvPr/>
        </p:nvPicPr>
        <p:blipFill rotWithShape="1">
          <a:blip r:embed="rId4">
            <a:alphaModFix/>
          </a:blip>
          <a:srcRect t="19097" r="5042" b="2954"/>
          <a:stretch/>
        </p:blipFill>
        <p:spPr>
          <a:xfrm>
            <a:off x="2396525" y="3055175"/>
            <a:ext cx="3716124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7519424" y="3535074"/>
            <a:ext cx="456876" cy="2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0"/>
          <p:cNvSpPr txBox="1">
            <a:spLocks noGrp="1"/>
          </p:cNvSpPr>
          <p:nvPr>
            <p:ph type="ctrTitle"/>
          </p:nvPr>
        </p:nvSpPr>
        <p:spPr>
          <a:xfrm>
            <a:off x="873303" y="1398100"/>
            <a:ext cx="6848547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ka-GE" sz="4000" dirty="0"/>
              <a:t>ძიების </a:t>
            </a:r>
            <a:r>
              <a:rPr lang="ka-GE" sz="4000" dirty="0" smtClean="0"/>
              <a:t>ალგორითმები</a:t>
            </a:r>
            <a:br>
              <a:rPr lang="ka-GE" sz="4000" dirty="0" smtClean="0"/>
            </a:br>
            <a:r>
              <a:rPr lang="en-US" sz="2000" dirty="0"/>
              <a:t>Linear Search </a:t>
            </a:r>
            <a:r>
              <a:rPr lang="en-US" sz="2000" dirty="0" err="1"/>
              <a:t>და</a:t>
            </a:r>
            <a:r>
              <a:rPr lang="en-US" sz="2000" dirty="0"/>
              <a:t> Binary Search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394" name="Google Shape;394;p40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 smtClean="0"/>
              <a:t>მარიამ</a:t>
            </a:r>
            <a:r>
              <a:rPr dirty="0" smtClean="0"/>
              <a:t> </a:t>
            </a:r>
            <a:r>
              <a:rPr dirty="0" err="1" smtClean="0"/>
              <a:t>სულუაშვილი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>
            <a:spLocks noGrp="1"/>
          </p:cNvSpPr>
          <p:nvPr>
            <p:ph type="title"/>
          </p:nvPr>
        </p:nvSpPr>
        <p:spPr>
          <a:xfrm>
            <a:off x="2228018" y="-15263"/>
            <a:ext cx="4872900" cy="150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3200" dirty="0" err="1" smtClean="0"/>
              <a:t>რა</a:t>
            </a:r>
            <a:r>
              <a:rPr sz="3200" dirty="0" smtClean="0"/>
              <a:t> </a:t>
            </a:r>
            <a:r>
              <a:rPr sz="3200" dirty="0" err="1" smtClean="0"/>
              <a:t>არის</a:t>
            </a:r>
            <a:r>
              <a:rPr sz="3200" dirty="0" smtClean="0"/>
              <a:t> </a:t>
            </a:r>
            <a:r>
              <a:rPr sz="3200" dirty="0" err="1" smtClean="0"/>
              <a:t>ძიება</a:t>
            </a:r>
            <a:r>
              <a:rPr sz="3200" dirty="0" smtClean="0"/>
              <a:t>?</a:t>
            </a:r>
            <a:endParaRPr sz="3200" dirty="0"/>
          </a:p>
        </p:txBody>
      </p:sp>
      <p:grpSp>
        <p:nvGrpSpPr>
          <p:cNvPr id="427" name="Google Shape;427;p43"/>
          <p:cNvGrpSpPr/>
          <p:nvPr/>
        </p:nvGrpSpPr>
        <p:grpSpPr>
          <a:xfrm>
            <a:off x="-9533" y="-7"/>
            <a:ext cx="2400327" cy="4724750"/>
            <a:chOff x="177793" y="152400"/>
            <a:chExt cx="2292357" cy="4512224"/>
          </a:xfrm>
        </p:grpSpPr>
        <p:pic>
          <p:nvPicPr>
            <p:cNvPr id="428" name="Google Shape;42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668274" y="3042918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43"/>
            <p:cNvPicPr preferRelativeResize="0"/>
            <p:nvPr/>
          </p:nvPicPr>
          <p:blipFill rotWithShape="1">
            <a:blip r:embed="rId4">
              <a:alphaModFix/>
            </a:blip>
            <a:srcRect l="50000" b="6182"/>
            <a:stretch/>
          </p:blipFill>
          <p:spPr>
            <a:xfrm rot="5400000">
              <a:off x="109262" y="220938"/>
              <a:ext cx="2429426" cy="2292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0" name="Google Shape;430;p43"/>
          <p:cNvGrpSpPr/>
          <p:nvPr/>
        </p:nvGrpSpPr>
        <p:grpSpPr>
          <a:xfrm>
            <a:off x="6528101" y="407029"/>
            <a:ext cx="2854722" cy="5057501"/>
            <a:chOff x="6456869" y="482600"/>
            <a:chExt cx="2726313" cy="4830008"/>
          </a:xfrm>
        </p:grpSpPr>
        <p:grpSp>
          <p:nvGrpSpPr>
            <p:cNvPr id="431" name="Google Shape;431;p43"/>
            <p:cNvGrpSpPr/>
            <p:nvPr/>
          </p:nvGrpSpPr>
          <p:grpSpPr>
            <a:xfrm>
              <a:off x="6673843" y="482600"/>
              <a:ext cx="2292357" cy="4512224"/>
              <a:chOff x="6667493" y="482600"/>
              <a:chExt cx="2292357" cy="4512224"/>
            </a:xfrm>
          </p:grpSpPr>
          <p:pic>
            <p:nvPicPr>
              <p:cNvPr id="432" name="Google Shape;432;p4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-5400000">
                <a:off x="7338144" y="1328667"/>
                <a:ext cx="2467773" cy="7756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3" name="Google Shape;433;p43"/>
              <p:cNvPicPr preferRelativeResize="0"/>
              <p:nvPr/>
            </p:nvPicPr>
            <p:blipFill rotWithShape="1">
              <a:blip r:embed="rId4">
                <a:alphaModFix/>
              </a:blip>
              <a:srcRect l="50000" b="6182"/>
              <a:stretch/>
            </p:blipFill>
            <p:spPr>
              <a:xfrm rot="-5400000">
                <a:off x="6598955" y="2633936"/>
                <a:ext cx="2429426" cy="2292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4" name="Google Shape;434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2700000">
              <a:off x="6586139" y="3255544"/>
              <a:ext cx="2467772" cy="13878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90634" y="1850020"/>
            <a:ext cx="510107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რიცხვის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პოვნა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მასივში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სტუდენტის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ID-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მოძებნა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სიაში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პროდუქტის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კოდის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პოვნა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მონაცემთა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მასივში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550" y="-544531"/>
            <a:ext cx="4872900" cy="1501800"/>
          </a:xfrm>
        </p:spPr>
        <p:txBody>
          <a:bodyPr/>
          <a:lstStyle/>
          <a:p>
            <a:r>
              <a:rPr lang="en-US" sz="3200" dirty="0"/>
              <a:t>Linear Search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36998" y="1118995"/>
            <a:ext cx="503695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[] = {7, 3, 10, 4, 8};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ვეძებთ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რიცხვს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4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C++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პროგრამა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შეასრულებს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შემდეგ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ნაბიჯებს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[0] = 7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არ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ემთხვევა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[1] = 3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არ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ემთხვევა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[2] = 10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არ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ემთხვევა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[3] = 4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ელემენტი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ნაპოვნია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ფუნქცია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დააბრუნებს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ინდექსს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3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07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4"/>
          <p:cNvPicPr preferRelativeResize="0"/>
          <p:nvPr/>
        </p:nvPicPr>
        <p:blipFill rotWithShape="1">
          <a:blip r:embed="rId3">
            <a:alphaModFix/>
          </a:blip>
          <a:srcRect t="19097" r="5042" b="2954"/>
          <a:stretch/>
        </p:blipFill>
        <p:spPr>
          <a:xfrm flipH="1">
            <a:off x="3305228" y="1923563"/>
            <a:ext cx="3716124" cy="958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44"/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44" name="Google Shape;444;p44"/>
            <p:cNvPicPr preferRelativeResize="0"/>
            <p:nvPr/>
          </p:nvPicPr>
          <p:blipFill rotWithShape="1">
            <a:blip r:embed="rId4">
              <a:alphaModFix/>
            </a:blip>
            <a:srcRect t="1400" r="83035" b="-1399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44"/>
            <p:cNvPicPr preferRelativeResize="0"/>
            <p:nvPr/>
          </p:nvPicPr>
          <p:blipFill rotWithShape="1">
            <a:blip r:embed="rId4">
              <a:alphaModFix/>
            </a:blip>
            <a:srcRect t="1400" r="83035" b="-1399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877" y="338740"/>
            <a:ext cx="6719298" cy="1047000"/>
          </a:xfrm>
        </p:spPr>
        <p:txBody>
          <a:bodyPr/>
          <a:lstStyle/>
          <a:p>
            <a:pPr algn="ctr"/>
            <a:r>
              <a:rPr lang="en-US" sz="3200" dirty="0"/>
              <a:t>Linear </a:t>
            </a:r>
            <a:r>
              <a:rPr lang="en-US" sz="3200" dirty="0" smtClean="0"/>
              <a:t>Search</a:t>
            </a:r>
            <a:r>
              <a:rPr lang="ka-GE" sz="3200" dirty="0"/>
              <a:t> </a:t>
            </a:r>
            <a:r>
              <a:rPr lang="ka-GE" sz="3200" dirty="0" smtClean="0"/>
              <a:t>როდის ვიყენებთ?</a:t>
            </a:r>
            <a:endParaRPr lang="en-US" sz="32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41877" y="259229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მასივი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არ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არის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დალაგებული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მონაცემთა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რაოდენობა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მცირეა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გვინდა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მარტივი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და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ადვილად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გასაგები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კოდი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3083" y="-501305"/>
            <a:ext cx="4872900" cy="1501800"/>
          </a:xfrm>
        </p:spPr>
        <p:txBody>
          <a:bodyPr/>
          <a:lstStyle/>
          <a:p>
            <a:r>
              <a:rPr lang="en-US" sz="2800" dirty="0"/>
              <a:t>Binary Search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29466" y="1216269"/>
            <a:ext cx="411683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დალაგებული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მასივი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[] = {2, 4, 6, 8, 10, 12, 14};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ვეძებთ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რიცხვს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ნაბიჯები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mid = 3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[3] = 8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10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მეტია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left = 4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mid = 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[5] = 12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10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ნაკლებია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right = 4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mid = 4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arr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[4] = 10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ნაპოვნია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001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7"/>
          <p:cNvSpPr txBox="1">
            <a:spLocks noGrp="1"/>
          </p:cNvSpPr>
          <p:nvPr>
            <p:ph type="title"/>
          </p:nvPr>
        </p:nvSpPr>
        <p:spPr>
          <a:xfrm>
            <a:off x="2456966" y="606174"/>
            <a:ext cx="4256400" cy="9841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3200" dirty="0"/>
              <a:t>Binary </a:t>
            </a:r>
            <a:r>
              <a:rPr lang="en-US" sz="3200" dirty="0" smtClean="0"/>
              <a:t>Search</a:t>
            </a:r>
            <a:r>
              <a:rPr lang="ka-GE" sz="3200" dirty="0" smtClean="0"/>
              <a:t> როდის ვიყენებთ?</a:t>
            </a:r>
            <a:endParaRPr sz="32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28108" y="25685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მასივი დალაგებულია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მონაცემთა რაოდენობა დიდია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მნიშვნელოვანია პროგრამის შესრულების სისწრაფე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562" y="-542402"/>
            <a:ext cx="7880279" cy="1501800"/>
          </a:xfrm>
        </p:spPr>
        <p:txBody>
          <a:bodyPr/>
          <a:lstStyle/>
          <a:p>
            <a:r>
              <a:rPr lang="en-US" sz="3200" dirty="0"/>
              <a:t>Linear Search vs Binary Search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43" y="1275888"/>
            <a:ext cx="8323398" cy="298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4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03" y="276813"/>
            <a:ext cx="8132188" cy="462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95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56" y="204457"/>
            <a:ext cx="8106310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21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51"/>
          <p:cNvGrpSpPr/>
          <p:nvPr/>
        </p:nvGrpSpPr>
        <p:grpSpPr>
          <a:xfrm>
            <a:off x="870025" y="401112"/>
            <a:ext cx="7404024" cy="4341275"/>
            <a:chOff x="870025" y="401112"/>
            <a:chExt cx="7404024" cy="4341275"/>
          </a:xfrm>
        </p:grpSpPr>
        <p:pic>
          <p:nvPicPr>
            <p:cNvPr id="530" name="Google Shape;530;p51"/>
            <p:cNvPicPr preferRelativeResize="0"/>
            <p:nvPr/>
          </p:nvPicPr>
          <p:blipFill rotWithShape="1">
            <a:blip r:embed="rId3">
              <a:alphaModFix amt="92000"/>
            </a:blip>
            <a:srcRect t="1319" b="-1319"/>
            <a:stretch/>
          </p:blipFill>
          <p:spPr>
            <a:xfrm>
              <a:off x="870025" y="401112"/>
              <a:ext cx="7404024" cy="434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38164" y="539509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3338164" y="4141059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3" name="Google Shape;533;p51"/>
          <p:cNvSpPr txBox="1">
            <a:spLocks noGrp="1"/>
          </p:cNvSpPr>
          <p:nvPr>
            <p:ph type="title"/>
          </p:nvPr>
        </p:nvSpPr>
        <p:spPr>
          <a:xfrm>
            <a:off x="2298600" y="1619250"/>
            <a:ext cx="4546800" cy="18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a-GE" dirty="0" smtClean="0">
                <a:solidFill>
                  <a:schemeClr val="dk1"/>
                </a:solidFill>
              </a:rPr>
              <a:t>დასკვნა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chelor in Robotics Engineering by Slidesgo">
  <a:themeElements>
    <a:clrScheme name="Simple Light">
      <a:dk1>
        <a:srgbClr val="1F164D"/>
      </a:dk1>
      <a:lt1>
        <a:srgbClr val="F9F9F9"/>
      </a:lt1>
      <a:dk2>
        <a:srgbClr val="E8E8E8"/>
      </a:dk2>
      <a:lt2>
        <a:srgbClr val="C1C1C1"/>
      </a:lt2>
      <a:accent1>
        <a:srgbClr val="6F79E3"/>
      </a:accent1>
      <a:accent2>
        <a:srgbClr val="433ABA"/>
      </a:accent2>
      <a:accent3>
        <a:srgbClr val="130994"/>
      </a:accent3>
      <a:accent4>
        <a:srgbClr val="FFFFFF"/>
      </a:accent4>
      <a:accent5>
        <a:srgbClr val="FFFFFF"/>
      </a:accent5>
      <a:accent6>
        <a:srgbClr val="FFFFFF"/>
      </a:accent6>
      <a:hlink>
        <a:srgbClr val="1F1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188</Words>
  <Application>Microsoft Office PowerPoint</Application>
  <PresentationFormat>On-screen Show (16:9)</PresentationFormat>
  <Paragraphs>35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IBM Plex Mono</vt:lpstr>
      <vt:lpstr>Archivo</vt:lpstr>
      <vt:lpstr>Bachelor in Robotics Engineering by Slidesgo</vt:lpstr>
      <vt:lpstr>ძიების ალგორითმები Linear Search და Binary Search</vt:lpstr>
      <vt:lpstr>რა არის ძიება?</vt:lpstr>
      <vt:lpstr>Linear Search</vt:lpstr>
      <vt:lpstr>Linear Search როდის ვიყენებთ?</vt:lpstr>
      <vt:lpstr>Binary Search </vt:lpstr>
      <vt:lpstr>Binary Search როდის ვიყენებთ?</vt:lpstr>
      <vt:lpstr>Linear Search vs Binary Search </vt:lpstr>
      <vt:lpstr>PowerPoint Presentation</vt:lpstr>
      <vt:lpstr>PowerPoint Presentation</vt:lpstr>
      <vt:lpstr>დასკვნა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ძიების ალგორითმები Linear Search და Binary Search</dc:title>
  <cp:lastModifiedBy>Windows User</cp:lastModifiedBy>
  <cp:revision>4</cp:revision>
  <dcterms:modified xsi:type="dcterms:W3CDTF">2026-01-08T17:24:53Z</dcterms:modified>
</cp:coreProperties>
</file>